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524bbf526f4e10" /><Relationship Type="http://schemas.openxmlformats.org/officeDocument/2006/relationships/extended-properties" Target="/docProps/app.xml" Id="Reecedd20b8164e9b" /><Relationship Type="http://schemas.openxmlformats.org/officeDocument/2006/relationships/officeDocument" Target="/ppt/presentation.xml" Id="Rbbb36f45a0c5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6fd7c5b55f4468"/>
  </p:sldMasterIdLst>
  <p:notesMasterIdLst>
    <p:notesMasterId xmlns:r="http://schemas.openxmlformats.org/officeDocument/2006/relationships" r:id="R71d40b2a467f4c95"/>
  </p:notesMasterIdLst>
  <p:sldIdLst>
    <p:sldId xmlns:r="http://schemas.openxmlformats.org/officeDocument/2006/relationships" id="256" r:id="R8ed3d45e8e4d4eb5"/>
    <p:sldId xmlns:r="http://schemas.openxmlformats.org/officeDocument/2006/relationships" id="257" r:id="Ra00ebd45e645483f"/>
    <p:sldId xmlns:r="http://schemas.openxmlformats.org/officeDocument/2006/relationships" id="258" r:id="Re9d5ff5a6a6c4bd6"/>
    <p:sldId xmlns:r="http://schemas.openxmlformats.org/officeDocument/2006/relationships" id="259" r:id="R7d7c2b8ebe3c4266"/>
    <p:sldId xmlns:r="http://schemas.openxmlformats.org/officeDocument/2006/relationships" id="260" r:id="R004c3da8cd164c92"/>
    <p:sldId xmlns:r="http://schemas.openxmlformats.org/officeDocument/2006/relationships" id="261" r:id="Ra34cc40730744761"/>
    <p:sldId xmlns:r="http://schemas.openxmlformats.org/officeDocument/2006/relationships" id="262" r:id="R1af8e1fc55614477"/>
    <p:sldId xmlns:r="http://schemas.openxmlformats.org/officeDocument/2006/relationships" id="263" r:id="Re71bbc48f37b412e"/>
    <p:sldId xmlns:r="http://schemas.openxmlformats.org/officeDocument/2006/relationships" id="264" r:id="Rb7a7ce55dacc4d37"/>
    <p:sldId xmlns:r="http://schemas.openxmlformats.org/officeDocument/2006/relationships" id="265" r:id="R5a230d63663948c6"/>
    <p:sldId xmlns:r="http://schemas.openxmlformats.org/officeDocument/2006/relationships" id="266" r:id="R43623b778aad44b4"/>
    <p:sldId xmlns:r="http://schemas.openxmlformats.org/officeDocument/2006/relationships" id="267" r:id="R5eaaff2d84b84e91"/>
    <p:sldId xmlns:r="http://schemas.openxmlformats.org/officeDocument/2006/relationships" id="268" r:id="R24a1652eaaef4946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04859faa48422e" /><Relationship Type="http://schemas.openxmlformats.org/officeDocument/2006/relationships/slideMaster" Target="/ppt/slideMasters/slideMaster1.xml" Id="R216fd7c5b55f4468" /><Relationship Type="http://schemas.openxmlformats.org/officeDocument/2006/relationships/notesMaster" Target="/ppt/notesMasters/notesMaster1.xml" Id="R71d40b2a467f4c95" /><Relationship Type="http://schemas.openxmlformats.org/officeDocument/2006/relationships/presProps" Target="/ppt/presProps.xml" Id="Re719a3e793084285" /><Relationship Type="http://schemas.openxmlformats.org/officeDocument/2006/relationships/viewProps" Target="/ppt/viewProps.xml" Id="R5a966fca98424ead" /><Relationship Type="http://schemas.openxmlformats.org/officeDocument/2006/relationships/tableStyles" Target="/ppt/tableStyles.xml" Id="R4c63447bf5234769" /><Relationship Type="http://schemas.openxmlformats.org/officeDocument/2006/relationships/slide" Target="/ppt/slides/slide1.xml" Id="R8ed3d45e8e4d4eb5" /><Relationship Type="http://schemas.openxmlformats.org/officeDocument/2006/relationships/slide" Target="/ppt/slides/slide2.xml" Id="Ra00ebd45e645483f" /><Relationship Type="http://schemas.openxmlformats.org/officeDocument/2006/relationships/slide" Target="/ppt/slides/slide3.xml" Id="Re9d5ff5a6a6c4bd6" /><Relationship Type="http://schemas.openxmlformats.org/officeDocument/2006/relationships/slide" Target="/ppt/slides/slide4.xml" Id="R7d7c2b8ebe3c4266" /><Relationship Type="http://schemas.openxmlformats.org/officeDocument/2006/relationships/slide" Target="/ppt/slides/slide5.xml" Id="R004c3da8cd164c92" /><Relationship Type="http://schemas.openxmlformats.org/officeDocument/2006/relationships/slide" Target="/ppt/slides/slide6.xml" Id="Ra34cc40730744761" /><Relationship Type="http://schemas.openxmlformats.org/officeDocument/2006/relationships/slide" Target="/ppt/slides/slide7.xml" Id="R1af8e1fc55614477" /><Relationship Type="http://schemas.openxmlformats.org/officeDocument/2006/relationships/slide" Target="/ppt/slides/slide8.xml" Id="Re71bbc48f37b412e" /><Relationship Type="http://schemas.openxmlformats.org/officeDocument/2006/relationships/slide" Target="/ppt/slides/slide9.xml" Id="Rb7a7ce55dacc4d37" /><Relationship Type="http://schemas.openxmlformats.org/officeDocument/2006/relationships/slide" Target="/ppt/slides/slide10.xml" Id="R5a230d63663948c6" /><Relationship Type="http://schemas.openxmlformats.org/officeDocument/2006/relationships/slide" Target="/ppt/slides/slide11.xml" Id="R43623b778aad44b4" /><Relationship Type="http://schemas.openxmlformats.org/officeDocument/2006/relationships/slide" Target="/ppt/slides/slide12.xml" Id="R5eaaff2d84b84e91" /><Relationship Type="http://schemas.openxmlformats.org/officeDocument/2006/relationships/slide" Target="/ppt/slides/slide13.xml" Id="R24a1652eaaef49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34df7958643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a07ac87b6347f3" /><Relationship Type="http://schemas.openxmlformats.org/officeDocument/2006/relationships/notesMaster" Target="/ppt/notesMasters/notesMaster1.xml" Id="R58399ebbeae34d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bc4e1cc78f4688" /><Relationship Type="http://schemas.openxmlformats.org/officeDocument/2006/relationships/notesMaster" Target="/ppt/notesMasters/notesMaster1.xml" Id="R00439228311645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c6e7f10ede410c" /><Relationship Type="http://schemas.openxmlformats.org/officeDocument/2006/relationships/notesMaster" Target="/ppt/notesMasters/notesMaster1.xml" Id="R6654fe7e537748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81797cf72744cd" /><Relationship Type="http://schemas.openxmlformats.org/officeDocument/2006/relationships/notesMaster" Target="/ppt/notesMasters/notesMaster1.xml" Id="R01be2b6e65a149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1fae5d54564ba2" /><Relationship Type="http://schemas.openxmlformats.org/officeDocument/2006/relationships/notesMaster" Target="/ppt/notesMasters/notesMaster1.xml" Id="Rb7aebb9dfe754c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2bb93fe35d40ec" /><Relationship Type="http://schemas.openxmlformats.org/officeDocument/2006/relationships/notesMaster" Target="/ppt/notesMasters/notesMaster1.xml" Id="Re25eb61d385a4c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1ea02e9f544e4a" /><Relationship Type="http://schemas.openxmlformats.org/officeDocument/2006/relationships/notesMaster" Target="/ppt/notesMasters/notesMaster1.xml" Id="R5a1274f78d3546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51a30c36334c15" /><Relationship Type="http://schemas.openxmlformats.org/officeDocument/2006/relationships/notesMaster" Target="/ppt/notesMasters/notesMaster1.xml" Id="Radf1682915da4b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8e228625984129" /><Relationship Type="http://schemas.openxmlformats.org/officeDocument/2006/relationships/notesMaster" Target="/ppt/notesMasters/notesMaster1.xml" Id="Re3c99bdc1f5a45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03bd0422da4713" /><Relationship Type="http://schemas.openxmlformats.org/officeDocument/2006/relationships/notesMaster" Target="/ppt/notesMasters/notesMaster1.xml" Id="R08d1bf62b59d48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1d237fc9174669" /><Relationship Type="http://schemas.openxmlformats.org/officeDocument/2006/relationships/notesMaster" Target="/ppt/notesMasters/notesMaster1.xml" Id="R5300f757e9d248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b8e6fa6d214c4c" /><Relationship Type="http://schemas.openxmlformats.org/officeDocument/2006/relationships/notesMaster" Target="/ppt/notesMasters/notesMaster1.xml" Id="Rb871cfb176c74d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31d02466ea4b74" /><Relationship Type="http://schemas.openxmlformats.org/officeDocument/2006/relationships/notesMaster" Target="/ppt/notesMasters/notesMaster1.xml" Id="R6c6c4dd495fc4b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examples, accessed 26 October 2026: https://www.aboutamazon.in/news/retail/how-to-find-amazon-lightning-deals ; https://www.flipkart.com/offers-store ; https://www.mi.com/in/flashsale/openbuy/index.html . The comparison describes scope, not claims that competitors lack stock or countdown features.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are cropped from the existing DROP frontend screenshot in docs/screenshots/storefront.png. They show illustrative products and browser-local demo stock. No generated UI mockups or real payment flow are shown.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18 Review 1. Current delivery is a frontend-only React demo with browser-local data. Backend integration and shared database behavior are future work. Faculty dates and individual roles await confirmation. Verification previously completed: 15 frontend tests, ESLint and Vite production build.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c953a033d47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4b92b27c740e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CBP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9DBFEB-2FE9-4928-9F5C-83ACA4F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A11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37A572-73A3-48BC-B06D-7AFDF8E4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19472"/>
            <a:ext cx="9144000" cy="2240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6E5FBB-04C0-4DE7-B076-0EABF773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928616"/>
            <a:ext cx="6400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F3A0B"/>
                </a:solidFill>
                <a:latin typeface="Tahoma"/>
                <a:ea typeface="Tahoma"/>
                <a:cs typeface="Tahoma"/>
              </a:rPr>
              <a:t>FSWD Course-Based Project  |  Review 1 Presentation  |  </a:t>
            </a:r>
            <a:r>
              <a:rPr sz="900">
                <a:solidFill>
                  <a:srgbClr val="7F3A0B"/>
                </a:solidFill>
                <a:latin typeface="Tahoma"/>
                <a:ea typeface="Tahoma"/>
                <a:cs typeface="Tahoma"/>
              </a:rPr>
              <a:t>Team 18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A042571-0128-4E59-9234-2CCFEF99E1B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91e1fc1d4e4744" /><Relationship Type="http://schemas.openxmlformats.org/officeDocument/2006/relationships/slideLayout" Target="/ppt/slideLayouts/slideLayout1.xml" Id="Rbb845fed391d48bd" /><Relationship Type="http://schemas.openxmlformats.org/officeDocument/2006/relationships/slideLayout" Target="/ppt/slideLayouts/slideLayout2.xml" Id="R4fe43e1576bb4c5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4E8A717-CDD7-4DA7-A5BC-3B8C3B72AC7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45fed391d48bd"/>
    <p:sldLayoutId xmlns:r="http://schemas.openxmlformats.org/officeDocument/2006/relationships" id="2147483650" r:id="R4fe43e1576bb4c5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2eff10a124cae" /><Relationship Type="http://schemas.openxmlformats.org/officeDocument/2006/relationships/notesSlide" Target="/ppt/notesSlides/notesSlide1.xml" Id="R86398afb2d9348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1fc3c378454380" /><Relationship Type="http://schemas.openxmlformats.org/officeDocument/2006/relationships/notesSlide" Target="/ppt/notesSlides/notesSlide2.xml" Id="R7556a984b55749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7844021d04d33" /><Relationship Type="http://schemas.openxmlformats.org/officeDocument/2006/relationships/notesSlide" Target="/ppt/notesSlides/notesSlide3.xml" Id="R1dc6c362379b4c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2550501404a9c" /><Relationship Type="http://schemas.openxmlformats.org/officeDocument/2006/relationships/notesSlide" Target="/ppt/notesSlides/notesSlide4.xml" Id="R27c5b994c0db4b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9013ae2c6c4daf" /><Relationship Type="http://schemas.openxmlformats.org/officeDocument/2006/relationships/notesSlide" Target="/ppt/notesSlides/notesSlide5.xml" Id="Rfdf0d73f1d9f4d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62373787074c3f" /><Relationship Type="http://schemas.openxmlformats.org/officeDocument/2006/relationships/notesSlide" Target="/ppt/notesSlides/notesSlide6.xml" Id="R8a798a6e61a540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90efe01d0e4a17" /><Relationship Type="http://schemas.openxmlformats.org/officeDocument/2006/relationships/notesSlide" Target="/ppt/notesSlides/notesSlide7.xml" Id="Red98a8ed7ae441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338a1f18a14f10" /><Relationship Type="http://schemas.openxmlformats.org/officeDocument/2006/relationships/notesSlide" Target="/ppt/notesSlides/notesSlide8.xml" Id="R11f3936c973c45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ff06d4d51e451c" /><Relationship Type="http://schemas.openxmlformats.org/officeDocument/2006/relationships/notesSlide" Target="/ppt/notesSlides/notesSlide9.xml" Id="R2fd4dc9ad19846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91d246d4914cee" /><Relationship Type="http://schemas.openxmlformats.org/officeDocument/2006/relationships/image" Target="/ppt/media/image.png" Id="Rfece133177b94528" /><Relationship Type="http://schemas.openxmlformats.org/officeDocument/2006/relationships/image" Target="/ppt/media/image2.png" Id="R62333dd764044225" /><Relationship Type="http://schemas.openxmlformats.org/officeDocument/2006/relationships/image" Target="/ppt/media/image3.png" Id="Ref2e54e5a19d44d6" /><Relationship Type="http://schemas.openxmlformats.org/officeDocument/2006/relationships/notesSlide" Target="/ppt/notesSlides/notesSlide10.xml" Id="Ree7a3589297a47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eb74d4a4c54962" /><Relationship Type="http://schemas.openxmlformats.org/officeDocument/2006/relationships/notesSlide" Target="/ppt/notesSlides/notesSlide11.xml" Id="Rf6897ea60edb45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e935b5f59e4204" /><Relationship Type="http://schemas.openxmlformats.org/officeDocument/2006/relationships/notesSlide" Target="/ppt/notesSlides/notesSlide12.xml" Id="R71d11b4c89894f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e59a0a01d0495f" /><Relationship Type="http://schemas.openxmlformats.org/officeDocument/2006/relationships/notesSlide" Target="/ppt/notesSlides/notesSlide13.xml" Id="R2dd0694bf4d444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55A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4FDAD1B-2EB5-4D34-818C-8490D738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66160"/>
            <a:ext cx="9144000" cy="1577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5695D1-423A-43D1-8D3C-E1532852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7223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FULL STACK WEB DEVELOPMENT  |  COURSE-BASED PROJECT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8F98F0A-A262-4CF3-AC85-63CBD552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1560"/>
            <a:ext cx="8046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sz="3400"/>
            </a:defPPr>
            <a:lvl1pPr>
              <a:defRPr sz="3400"/>
            </a:lvl1pPr>
            <a:lvl2pPr>
              <a:defRPr sz="3400"/>
            </a:lvl2pPr>
            <a:lvl3pPr>
              <a:defRPr sz="34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 xmlns:a="http://schemas.openxmlformats.org/drawingml/2006/main">
            <a:pPr marL="0" indent="0">
              <a:buNone/>
              <a:defRPr sz="3400"/>
            </a:pPr>
            <a:r>
              <a:rPr sz="3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Flash Sale E-commerce Page</a:t>
            </a:r>
            <a:endParaRPr sz="4200"/>
          </a:p>
          <a:p xmlns:a="http://schemas.openxmlformats.org/drawingml/2006/main">
            <a:pPr marL="0" indent="0">
              <a:buNone/>
              <a:defRPr sz="3400"/>
            </a:pPr>
            <a:r>
              <a:rPr sz="3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with Countdown &amp; Stock Counter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68D497-BA43-4463-AB08-11FA79C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8046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FFFFFF"/>
                </a:solidFill>
              </a:defRPr>
            </a:defPPr>
            <a:lvl1pPr>
              <a:defRPr i="0">
                <a:solidFill>
                  <a:srgbClr val="FFFFFF"/>
                </a:solidFill>
              </a:defRPr>
            </a:lvl1pPr>
            <a:lvl2pPr>
              <a:defRPr i="0">
                <a:solidFill>
                  <a:srgbClr val="FFFFFF"/>
                </a:solidFill>
              </a:defRPr>
            </a:lvl2pPr>
            <a:lvl3pPr>
              <a:defRPr i="0">
                <a:solidFill>
                  <a:srgbClr val="FFFFFF"/>
                </a:solidFill>
              </a:defRPr>
            </a:lvl3pPr>
            <a:lvl4pPr>
              <a:defRPr i="0">
                <a:solidFill>
                  <a:srgbClr val="FFFFFF"/>
                </a:solidFill>
              </a:defRPr>
            </a:lvl4pPr>
            <a:lvl5pPr>
              <a:defRPr i="0">
                <a:solidFill>
                  <a:srgbClr val="FFFFFF"/>
                </a:solidFill>
              </a:defRPr>
            </a:lvl5pPr>
            <a:lvl6pPr>
              <a:defRPr i="0">
                <a:solidFill>
                  <a:srgbClr val="FFFFFF"/>
                </a:solidFill>
              </a:defRPr>
            </a:lvl6pPr>
            <a:lvl7pPr>
              <a:defRPr i="0">
                <a:solidFill>
                  <a:srgbClr val="FFFFFF"/>
                </a:solidFill>
              </a:defRPr>
            </a:lvl7pPr>
            <a:lvl8pPr>
              <a:defRPr i="0">
                <a:solidFill>
                  <a:srgbClr val="FFFFFF"/>
                </a:solidFill>
              </a:defRPr>
            </a:lvl8pPr>
            <a:lvl9pPr>
              <a:defRPr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FFFFFF"/>
                </a:solidFill>
              </a:defRPr>
            </a:pPr>
            <a:r>
              <a:rPr sz="1800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DROP: a responsive frontend with a simulated shopping flow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73A6099-8BCA-4859-946B-B8F0BF57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Review 1 Presentation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0D8454A-C934-4291-BED7-1033AAEA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Team No: 18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37D0F1-8593-4E86-BF74-CCDA2E2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54864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F3A0B"/>
                </a:solidFill>
                <a:latin typeface="Tahoma"/>
                <a:ea typeface="Tahoma"/>
                <a:cs typeface="Tahoma"/>
              </a:rPr>
              <a:t>M Nanith Reddy  -  1602-24-733-091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F3A0B"/>
                </a:solidFill>
                <a:latin typeface="Tahoma"/>
                <a:ea typeface="Tahoma"/>
                <a:cs typeface="Tahoma"/>
              </a:rPr>
              <a:t>Sukka Bhuvaneshwar  -  1602-24-733-070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7F3A0B"/>
                </a:solidFill>
                <a:latin typeface="Tahoma"/>
                <a:ea typeface="Tahoma"/>
                <a:cs typeface="Tahoma"/>
              </a:rPr>
              <a:t>P William  -  1602-24-733-130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EADE1D6-BF46-42CB-B7CF-5F34E9C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3320"/>
            <a:ext cx="2194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>
                <a:solidFill>
                  <a:srgbClr val="7F3A0B"/>
                </a:solidFill>
                <a:latin typeface="Tahoma"/>
                <a:ea typeface="Tahoma"/>
                <a:cs typeface="Tahoma"/>
              </a:rPr>
              <a:t>Section: to be confirmed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424630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2CF01F7-25F2-4431-B576-E9301FA9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93385C-9EC9-4F5B-A8BA-84044837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B63D98-D78D-407B-8FCA-DACE797B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Problem statement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3E4A00-E6C5-40F3-9BD5-B84B9CEA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CD563D4-D688-47C1-80A1-42CBA89D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512064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E274774-5F5A-4B99-8B1A-396891BF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51206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D1230F3-9F97-41BA-A07F-669280C2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The problem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E5D7127-FF3E-4833-888D-83D38B7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572768"/>
            <a:ext cx="4901184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Flash-sale shoppers need to see when an offer ends and how much stock remains.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A static page cannot demonstrate changing availability or a complete purchase journey.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This project brings the countdown, product stock and shopping bag into one responsive interface.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012A8F3-34AC-4467-9157-14431D68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88720"/>
            <a:ext cx="31089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DD11415-E6A0-4508-B410-CC9A7FB1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88720"/>
            <a:ext cx="31089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0A8F4D0-26CD-45D7-BECF-91FE4F2C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188720"/>
            <a:ext cx="2286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Who is affected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E694361-0E4D-43A8-B6E5-BE9BE7EA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1572768"/>
            <a:ext cx="2889504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Shoppers browsing short-duration offers on mobile and desktop.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Students learning frontend state, persistence and user feedback.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565184-7A45-4443-BD9C-44C540C7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31089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57197FA-2031-48FC-918A-9415EBCE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063240"/>
            <a:ext cx="31089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38BC92B-D2DC-4BA9-B04F-044A09B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063240"/>
            <a:ext cx="2286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Why it matters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9A57EF4-5D9F-4163-8A24-A74D38C5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008" y="3447288"/>
            <a:ext cx="2889504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Clear availability reduces confusing purchase attempts.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The demo makes time, quantity limits and checkout outcomes visible.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8C686DB-854C-4FD4-A251-C6DFBB0494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E2598689-54C9-18A7-3A19-ED76AA08988F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1125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834622F-DDA1-4D8E-98DD-02CAC619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60BDC7-9C8B-4573-BA54-341F421B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7ACA8A-B553-4DA5-B863-776ECEA1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Objectives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A82201C-6889-45C2-95CE-461B50E5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13ECA46-754C-4676-945B-4221D42C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841248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2700">
            <a:solidFill>
              <a:srgbClr val="E07B3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B02C822-9DCB-4D74-B56B-D5AA32DD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34416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584A4DA-EA2D-4408-9E7A-EFBE6353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344168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7DCCEEE-2B7B-456C-A2E3-90D7D15C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188720"/>
            <a:ext cx="6858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3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Display a persistent countdown and stop demo purchases after expiry.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AEFD232-7805-456B-8F9D-FC6AD215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84832"/>
            <a:ext cx="841248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2700">
            <a:solidFill>
              <a:srgbClr val="E07B39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B3735D1-6CB4-403B-B3B9-34ADBC1E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4028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FA1D9D1-7A3E-4293-9060-BEDDD6AB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4028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52EDDE1-8FED-4118-BF24-4A234CCF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6858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3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Show stock for 8 demo products and block sold-out or excessive quantities.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5349AEA-D2E6-491C-A1C5-CAB9CF7F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80944"/>
            <a:ext cx="841248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2700">
            <a:solidFill>
              <a:srgbClr val="E07B39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19F89B9-54D7-4A0D-BC29-229F8908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363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244F0F7-4CB2-4861-BDE8-53E0F55F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3639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A3E5A8F-F72D-4E73-8D14-F740B10F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80944"/>
            <a:ext cx="6858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3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Support browsing, bag review and a confirmed simulated order.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31AA1C7-A84F-4154-BDD8-508D33C7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77056"/>
            <a:ext cx="841248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2700">
            <a:solidFill>
              <a:srgbClr val="E07B39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81E37E1-32DB-4408-874F-0566A1CB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03250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754C07F-3E23-43C6-81E4-7A9C36D1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032504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33E11DC-8AAA-4279-AA96-81AB41FD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77056"/>
            <a:ext cx="6858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3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Verify responsive behavior, keyboard access, 15 tests, lint and build.</a:t>
            </a:r>
            <a:endParaRPr sz="1300"/>
          </a:p>
        </p:txBody>
      </p:sp>
      <p:sp>
        <p:nvSpPr>
          <p:cNvPr id="3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4D04795-9E9F-4A34-A1BB-DA82D7A1AC3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3765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86B973-9BD8-43B0-9080-A6FCBA1D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4DF658-2568-4760-8E23-4559B16D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3E5761-3A3C-4462-BE47-740834A3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Users and scope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308D416-949F-4C0D-95F6-E96B769B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3B5EA3-BA90-4B0D-A3FE-31D5892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2743200" cy="356616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6097842-C2B0-4AAE-94D3-650FEFAF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27432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CF6DF71-0F81-4408-A032-8BCCC7DD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Target users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7AF365-C56B-4161-B248-D441D1F0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572768"/>
            <a:ext cx="2523744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Shoppers discovering limited offers.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Mobile and desktop users.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Reviewers following the complete frontend flow.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EF7E8FD-91E4-4BDA-B2E9-4CF85D51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188720"/>
            <a:ext cx="2743200" cy="356616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2FBE258-E69A-4E66-88DE-C4095E1D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188720"/>
            <a:ext cx="27432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FF9E757-A35D-423A-9210-32CBD2F8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18872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In scope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104FB90-F145-401B-9152-5EA6B191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572768"/>
            <a:ext cx="2523744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Countdown and stock display.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Product details, search and filters.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Bag, favorites and simulated checkout.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Browser-local persistence.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B944A98-B76D-4A79-9C7F-5629B98F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88720"/>
            <a:ext cx="2560320" cy="356616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6AA6097-20AD-4406-8ABB-9AB4ED0D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88720"/>
            <a:ext cx="25603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AD3EC6D-5C6E-499A-ABCD-B61326B7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88720"/>
            <a:ext cx="1737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Out of scope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1A69586-6DA9-4D12-9BBD-8BA7C758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72768"/>
            <a:ext cx="2340864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Real payments or shipping.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Accounts and seller tools.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Shared inventory or a deployed API.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Backend integration is a future phase.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DBDA8AC-E35A-491E-816F-BF24093F891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EFD6AB9A-5F9E-5F59-51AB-3C8734130965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52391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FD23E7-53D5-408A-A399-77E301B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974E8F-658C-4DA8-BA36-F5E3CE6F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0A3F7EC-06AB-489D-8A39-95A6DCB8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Ideation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FCF320-B190-4DD0-914D-DC048B7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BB4835C-E663-43E3-BEC7-B1B3FB6D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269748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F199A99-447B-48BC-9A3F-F46437C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2697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D4510B-CD12-4D24-BC7A-EA1E7229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Static sale banner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3EB1E07-4823-4B21-B71A-10D080F0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572768"/>
            <a:ext cx="247802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Fast and simple.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Rejected: no changing stock or purchase journey.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F38AD7A-0720-45B8-A47C-1A346A21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69748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7A77EA9-12EF-470A-AE87-D04D8F5B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697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AC98ECF-26F6-4411-BF0A-20971546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188720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Single-product timer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1AA41B-5FC1-4223-A962-C2F38970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572768"/>
            <a:ext cx="247802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A clear timing demo.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Rejected: limited browsing and component reuse.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2FE0989-C035-4525-8BD0-F3B07861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188720"/>
            <a:ext cx="269748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6AACC64-890C-4F51-B507-C6980B52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188720"/>
            <a:ext cx="2697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66CBD5B-911A-4503-BAB1-6CE75C25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Curated sale collection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FEAE6A2-03A6-493A-A9C9-240124D8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572768"/>
            <a:ext cx="2478024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Combines time, stock and a bag.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Chosen: complete frontend flow within a manageable scope.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D7C74B6-A07B-46F6-8D55-268AA5E9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0"/>
            <a:ext cx="841248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443ED4D-0D3B-4442-94F1-5642431B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0"/>
            <a:ext cx="8412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3F1B187-3D34-4E59-A30B-03A813B9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Final idea chosen and why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65C0168-4714-443F-BADD-8C0419C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858768"/>
            <a:ext cx="81930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DROP combines a small collection with visible availability and a demo checkout. A full marketplace adds accounts, sellers and payments beyond the current phase.</a:t>
            </a:r>
            <a:endParaRPr sz="1200"/>
          </a:p>
        </p:txBody>
      </p:sp>
      <p:sp>
        <p:nvSpPr>
          <p:cNvPr id="3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AFD0215-7A63-4F56-A1E8-F93A785C75F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EE5B3003-2C54-13C6-9832-7637201064DE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69289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9D13906-3D8E-4D0D-96B2-EAA26E12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B90090-271A-4FB0-A3FE-C4CD0BE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10A510-9884-4FA2-95D1-F7B910CB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Key features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C17892E-EFF8-44CA-AF21-A6737C94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25BCE88-AD17-427D-9A07-0296EFE1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841248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2700">
            <a:solidFill>
              <a:srgbClr val="E07B3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120EF1F-C4DB-4F41-99CD-536D76A2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34416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CE61E6-67E4-431D-9011-6A9A33C1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344168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B841BC4-2131-41DC-A53A-8C7BFBA0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188720"/>
            <a:ext cx="6858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3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Must-have: timestamp-derived countdown with clear expired-sale feedback.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3F24D8E-471A-4E6C-BE0E-5C171D99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084832"/>
            <a:ext cx="841248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2700">
            <a:solidFill>
              <a:srgbClr val="E07B39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409261E-3663-4BFA-B233-C19BDF67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4028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B4704C-4F81-4F93-83D6-744A4CD0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40280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688E6DA-5CE4-4E5F-9E1F-8A836819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6858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3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Must-have: product prices, stock counters and sold-out states.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A0C1A17-BD38-4AFE-B97E-C7CE2ED9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80944"/>
            <a:ext cx="841248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2700">
            <a:solidFill>
              <a:srgbClr val="E07B39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FFE988B-84A4-488D-9C73-A82C856A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3639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46D2277-61C5-4A7B-AEB7-567601C3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36392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AD9593D-B0CA-40A2-8C27-F7C8A6FD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80944"/>
            <a:ext cx="6858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3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Must-have: quantity controls, bag totals and simulated order confirmation.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69E304C-0999-4095-A654-E2BDACF1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77056"/>
            <a:ext cx="841248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2700">
            <a:solidFill>
              <a:srgbClr val="E07B39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DF68877-9CE6-4A29-B992-68383EAE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03250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A1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44662D-0E08-4CA8-8F61-672E9719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032504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F8E983D-D565-4E04-A3AB-9BF7AA1C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77056"/>
            <a:ext cx="68580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3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Good-to-have: search, category filters, sorting and saved finds.</a:t>
            </a:r>
            <a:endParaRPr sz="1300"/>
          </a:p>
        </p:txBody>
      </p:sp>
      <p:sp>
        <p:nvSpPr>
          <p:cNvPr id="3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13C9A1F-615A-4DFA-8C8C-7F9C3D84152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8C630A04-5A25-9E0C-9436-126091DB86B3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72110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2CAFF58-D40F-4FFD-A2F0-23FF9B70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2F975F-D9D9-4851-A691-9F7F289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6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CF277E-B901-4A66-B3D7-C006FCDF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Similar existing solutions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5CD6409-8921-4D0B-B5AF-FF5D22B6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graphicFrame>
        <p:nvGraphicFramePr>
          <p:cNvPr id="9" name="Table 0">
            <a:extLst xmlns:a="http://schemas.openxmlformats.org/drawingml/2006/main">
              <a:ext uri="{FF2B5EF4-FFF2-40B4-BE49-F238E27FC236}">
                <a16:creationId xmlns:a16="http://schemas.microsoft.com/office/drawing/2014/main" id="{92A63FBA-FCFC-4714-A371-B9DC092CEF63}"/>
              </a:ext>
            </a:extLst>
          </p:cNvPr>
          <p:cNvGraphicFramePr/>
          <p:nvPr/>
        </p:nvGraphicFramePr>
        <p:xfrm>
          <a:off xmlns:a="http://schemas.openxmlformats.org/drawingml/2006/main" x="365760" y="1188720"/>
          <a:ext xmlns:a="http://schemas.openxmlformats.org/drawingml/2006/main" cx="841248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Existing solution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What it offers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How this project differs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C55A1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Amazon Lightning Deals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Limited-duration product offers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Small educational catalog; no real payment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Flipkart Offers Store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Sale offers and promotional collections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Focused countdown, stock and bag demo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Xiaomi Flash Sale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Scheduled purchase offers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Illustrative multi-category frontend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7241A16-2D6E-4661-99D7-1F488BF7EC7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D3D7D1C8-AE23-AA48-DF65-C742588DBE47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89403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33F6FF7-BCBE-4343-B289-630256F9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9F22225-BC01-43BE-875F-3003F2EA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7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6CDB335-69F5-473B-BB10-1613C10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Tech stack chosen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117092D-AE5B-4F8A-A3E2-8A0F7A32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959AAA-D323-4BB8-BDBD-31909062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34440"/>
            <a:ext cx="269748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E8AB5D2-FB1D-4E6B-979A-C17E53CF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34440"/>
            <a:ext cx="2697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4B9C8C-14CB-4205-A964-7D64A2DC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Front end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E3A24EB4-C7BD-4DF3-9EC2-56C73CF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91640"/>
            <a:ext cx="1554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React + Vite</a:t>
            </a:r>
            <a:endParaRPr sz="1200"/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JavaScript + CSS</a:t>
            </a: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Reusable interface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2164D2A-2C66-4FD8-A99A-5987B88E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34440"/>
            <a:ext cx="269748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4483B67-BFD7-4322-BE85-A960462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34440"/>
            <a:ext cx="2697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350E4A7-009D-437F-B61B-48FE4C98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234440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Back end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DFB8D3D2-83AA-4C3B-9C6F-2CB4DB4B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691640"/>
            <a:ext cx="1554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Planned only</a:t>
            </a:r>
            <a:endParaRPr sz="1200"/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Node + Express</a:t>
            </a: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Validated API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E6A5B6D8-A2AA-4EEA-BD2E-1A76E1B3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34440"/>
            <a:ext cx="269748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248E9202-D841-4C9B-BBF1-5C719D95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34440"/>
            <a:ext cx="2697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8E68973-AC31-4C3B-915E-458EB361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234440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Database</a:t>
            </a:r>
            <a:endParaRPr sz="12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3F429B51-64D5-4C20-B215-45EBA509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1640"/>
            <a:ext cx="1554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localStorage now</a:t>
            </a:r>
            <a:endParaRPr sz="1200"/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PostgreSQL later</a:t>
            </a: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Prisma planned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448951BA-3210-40EE-ABD3-7B2296C1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17520"/>
            <a:ext cx="269748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224D2C90-51BA-46FA-B444-946F4ED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17520"/>
            <a:ext cx="2697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30344A2A-320C-48F7-98DE-84CD0BF1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Hosting</a:t>
            </a:r>
            <a:endParaRPr sz="1200"/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44AA985F-7A76-419D-B7E8-93BF8953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74720"/>
            <a:ext cx="1554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Local preview</a:t>
            </a:r>
            <a:endParaRPr sz="1200"/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Vite on port 5174</a:t>
            </a: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No deployment</a:t>
            </a:r>
          </a:p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9A6A73FB-A57C-4547-86F4-05A8E213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17520"/>
            <a:ext cx="2697480" cy="16002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C5190B3C-30F2-4640-8711-D972456F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17520"/>
            <a:ext cx="2697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4D8F3D66-2A0D-46F0-917C-2F524B72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1874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Tools</a:t>
            </a:r>
            <a:endParaRPr sz="1200"/>
          </a:p>
        </p:txBody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08D1E6BE-240D-499B-9EFC-320B664D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474720"/>
            <a:ext cx="1554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Git + GitHub</a:t>
            </a:r>
            <a:endParaRPr sz="1200"/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Vitest + ESLint</a:t>
            </a: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Taste + Impeccable</a:t>
            </a:r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1B70E9E2-178F-48C5-AE17-D3486548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91840"/>
            <a:ext cx="2743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Frontend is implemented.</a:t>
            </a:r>
            <a:endParaRPr sz="1100"/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Browser data simulates the sale.</a:t>
            </a: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Backend and shared database are deferred.</a:t>
            </a:r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DBAA96C-92E9-4727-9EBA-90966380B55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BA58DA2A-B818-18A9-29C1-B697728D5BCE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58996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90A638F-9B24-4F2C-BA1F-3ACE2291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1D4CF9-693F-4625-9FC2-986EC8D7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8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ADCE15-18E4-45D6-A8B2-FAA7935E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Architecture overview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4A5A783-A169-457E-9F08-5C5FE0A1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664D8DF-4E23-4A98-9A23-5CABA265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70432"/>
            <a:ext cx="841248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E07B39"/>
            </a:solidFill>
            <a:prstDash val="dash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368BF1E-EDB0-4B69-A12E-1BE24543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3584"/>
            <a:ext cx="7040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Current frontend architecture. Future phase: React frontend, Express API, Prisma and PostgreSQL.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D8860CD-0D9B-4D76-9577-93DE8D36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201168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9050">
            <a:solidFill>
              <a:srgbClr val="C55A11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FFA6675-5667-45E3-AFD7-C947CE22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React interface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Components + hooks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227E496-F972-4534-B2F4-E1EBDC87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697480"/>
            <a:ext cx="54864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B39"/>
          </a:solidFill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CA6B4148-454C-4FC3-8747-F8EF673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11680"/>
            <a:ext cx="201168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9050">
            <a:solidFill>
              <a:srgbClr val="C55A1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198AF0D-644B-466C-8D54-F1656F1B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880360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Demo adapter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Async JavaScript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3730913-416B-4080-B91A-F1D9F3E3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697480"/>
            <a:ext cx="54864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7B39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F4F5FFC-E4E4-47F8-822B-8269AA9D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011680"/>
            <a:ext cx="2011680" cy="173736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19050">
            <a:solidFill>
              <a:srgbClr val="C55A11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570FB6AD-24B4-457B-94A5-8E6E70C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80360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Browser data</a:t>
            </a:r>
            <a:endParaRPr sz="1400"/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Catalog + localStorage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7B9FE3F-B483-4B2A-8ACE-CE1D8590A7B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388657AE-30A1-5A7A-6A7F-315D84436430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10998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9098F81-1E60-4864-B442-48C04D4D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C7F339-1787-4BA9-923A-15A5ED23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9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CC2DE1-DB09-4A66-A26C-DE523610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Implemented frontend screens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C4C5C07-BB53-437F-AC0E-C1CA1634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6E47B55-1000-4A4B-810C-6616A20E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2697480" cy="301752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7B39"/>
            </a:solidFill>
            <a:prstDash val="dash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A9131C6-9F48-4DB1-9FE1-A598C15A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28016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Sale landing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44B3B53-8FF8-4203-98B7-5036CF75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519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Hero and sale countdown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5D0883C-961A-4C5F-8F8C-BC8635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697480" cy="301752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7B39"/>
            </a:solidFill>
            <a:prstDash val="dash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2F93CB-58FC-411A-9D65-70635FD6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28016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Product collection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CDEAA98-6375-4E29-B5F2-55FB31E6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519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Filters, prices and stock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FF20E49-81B7-4FA9-8D23-C50A27BB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188720"/>
            <a:ext cx="2697480" cy="301752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7B39"/>
            </a:solidFill>
            <a:prstDash val="dash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496122E-B86F-40A5-8187-5FD1DDDC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28016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Availability states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1781F64-61A7-4C8A-9ADE-A9730789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25196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Low stock and sold-out items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59F92B-AA3F-405A-A1A1-CD04C3939C7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DB7BEEEC-A170-5376-2B6E-CB54687B0CB1}" type="slidenum">
              <a:rPr b="0"/>
              <a:t>10</a:t>
            </a:fld>
            <a:endParaRPr/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0D58E-2C84-49ED-99B5-DA882A6F0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e133177b94528"/>
          <a:stretch xmlns:a="http://schemas.openxmlformats.org/drawingml/2006/main"/>
        </p:blipFill>
        <p:spPr>
          <a:xfrm xmlns:a="http://schemas.openxmlformats.org/drawingml/2006/main">
            <a:off x="476250" y="2236398"/>
            <a:ext cx="2468880" cy="1242204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3C995-F80A-42C8-9495-DFA4E5DCB1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33dd764044225"/>
          <a:stretch xmlns:a="http://schemas.openxmlformats.org/drawingml/2006/main"/>
        </p:blipFill>
        <p:spPr>
          <a:xfrm xmlns:a="http://schemas.openxmlformats.org/drawingml/2006/main">
            <a:off x="3310890" y="2214832"/>
            <a:ext cx="2468880" cy="1285336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DFB7FC-3BF2-40C1-B6B5-759005F922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e54e5a19d44d6"/>
          <a:stretch xmlns:a="http://schemas.openxmlformats.org/drawingml/2006/main"/>
        </p:blipFill>
        <p:spPr>
          <a:xfrm xmlns:a="http://schemas.openxmlformats.org/drawingml/2006/main">
            <a:off x="6145530" y="2253651"/>
            <a:ext cx="2468880" cy="12076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769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5B59DA-9DEE-4573-8851-FF3DB5E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7101F0-9301-45BE-9953-2F2CAF7F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10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F709BF-3B25-4205-86A5-EB75AA15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Work plan and milestones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7C7E07C-15A9-4A04-9F30-E702ED67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graphicFrame>
        <p:nvGraphicFramePr>
          <p:cNvPr id="13" name="Table 0">
            <a:extLst xmlns:a="http://schemas.openxmlformats.org/drawingml/2006/main">
              <a:ext uri="{FF2B5EF4-FFF2-40B4-BE49-F238E27FC236}">
                <a16:creationId xmlns:a16="http://schemas.microsoft.com/office/drawing/2014/main" id="{98690FEC-434D-4538-8865-F9FA025D8EF8}"/>
              </a:ext>
            </a:extLst>
          </p:cNvPr>
          <p:cNvGraphicFramePr/>
          <p:nvPr/>
        </p:nvGraphicFramePr>
        <p:xfrm>
          <a:off xmlns:a="http://schemas.openxmlformats.org/drawingml/2006/main" x="365760" y="1188720"/>
          <a:ext xmlns:a="http://schemas.openxmlformats.org/drawingml/2006/main" cx="841248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06240"/>
                <a:gridCol w="1828800"/>
                <a:gridCol w="2377440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Milestone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Target date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Responsible member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C55A1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Review 2: UI/UX and frontend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Faculty date pending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Team 18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Review 3: backend and integration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Future phase; date pending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Proposed: Bhuvaneshwar + team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Final presentation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Faculty date pending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i="0">
                          <a:solidFill>
                            <a:srgbClr val="242424"/>
                          </a:solidFill>
                          <a:latin typeface="Tahoma"/>
                          <a:ea typeface="Tahoma"/>
                          <a:cs typeface="Tahoma"/>
                        </a:rPr>
                        <a:t>All team members</a:t>
                      </a:r>
                      <a:endParaRPr sz="1200">
                        <a:latin typeface="Tahoma"/>
                        <a:ea typeface="Tahoma"/>
                        <a:cs typeface="Tahoma"/>
                      </a:endParaRPr>
                    </a:p>
                  </a:txBody>
                  <a:tcPr marL="91440" marR="91440" marT="45720" marB="45720">
                    <a:lnL w="12700" cmpd="sng">
                      <a:solidFill>
                        <a:srgbClr val="E07B39"/>
                      </a:solidFill>
                      <a:prstDash val="solid"/>
                    </a:lnL>
                    <a:lnR w="12700" cmpd="sng">
                      <a:solidFill>
                        <a:srgbClr val="E07B39"/>
                      </a:solidFill>
                      <a:prstDash val="solid"/>
                    </a:lnR>
                    <a:lnT w="12700" cmpd="sng">
                      <a:solidFill>
                        <a:srgbClr val="E07B39"/>
                      </a:solidFill>
                      <a:prstDash val="solid"/>
                    </a:lnT>
                    <a:lnB w="12700" cmpd="sng">
                      <a:solidFill>
                        <a:srgbClr val="E07B3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29DC765-11F9-401E-809F-7966F69D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069080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1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Frontend ready for review. Next: confirm the backend scope, faculty dates and role allocation.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3E74C40-3315-42C2-8373-777A6247088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30394428-F1DC-E5F6-DB0C-7DE31F3D8A23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21681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5E692B-A7B6-4147-8597-46DABDB3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682CF6-3BEB-43BD-A3F7-1D899380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11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D779977-CE42-42AE-AE96-672197C6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Team roles and risks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7454D12-9A37-41CB-87D5-3C790490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4E23AA6-5663-4870-838D-650710D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2057400" cy="246888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C314696-43B4-4C2A-B7D4-8FD7A74C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20574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F2B4588-2666-4C65-82F9-AEF579EC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234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Nanith Reddy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6E0E704-2029-48B9-87AD-D667BA9F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572768"/>
            <a:ext cx="183794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Proposed role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Layout and shared React components.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Frontend integration.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FB0A059-9985-462A-8072-E94FBF29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188720"/>
            <a:ext cx="2057400" cy="246888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DE998B-C489-4FC5-BF48-4202A9D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188720"/>
            <a:ext cx="20574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7E77243-C853-45E0-BB34-1FB3E270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188720"/>
            <a:ext cx="18097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Bhuvaneshwar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B83DB52-0480-4A58-9A50-6D9C580E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328" y="1572768"/>
            <a:ext cx="183794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Proposed role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Catalog, countdown and stock state.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Future API planning.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5B99DA4-400D-4F31-A898-6624C3AE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88720"/>
            <a:ext cx="2057400" cy="246888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DF7E14C-BDE0-447C-A9C3-B0751FDD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88720"/>
            <a:ext cx="20574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3E85625-5C1A-4F06-8D4A-203271A7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1234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P William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6E08362-8F72-40A1-AC9C-E95A4FF0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572768"/>
            <a:ext cx="183794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Proposed role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Bag and checkout tests.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Accessibility and review material.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5D5C337-EAAC-4BA1-A920-A33FD486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88720"/>
            <a:ext cx="1920240" cy="246888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F73F672-447A-45CC-A3B6-F69A71FF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88720"/>
            <a:ext cx="192024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2EA2C9C-D03F-497B-80E4-5453D7B4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188720"/>
            <a:ext cx="1097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Risks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D01221D-0002-48AC-9A7E-8358372B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572768"/>
            <a:ext cx="170078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Timer drift: derive time from timestamps.</a:t>
            </a:r>
            <a:endParaRPr sz="1200"/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Stale stock: validate quantities.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Regressions: test, lint and build.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DE4D007-CA73-4EDF-BE95-8265E181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94760"/>
            <a:ext cx="84124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1BC6C7A-F99A-48AC-9386-DD1C97CD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94760"/>
            <a:ext cx="8412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432A8B4-7C57-492B-B90B-67FDE4EF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Expected outcome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F100465-BBA6-48AB-ABA2-40C90354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178808"/>
            <a:ext cx="81930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A responsive, accessible frontend demonstration covering sale timing, stock, bag review and simulated checkout.</a:t>
            </a:r>
            <a:endParaRPr sz="120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755476D-FFC0-4F02-B194-B7AC372935F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4DB16885-0D3F-A391-B669-3211DB3B26E8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74231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E859160-9971-4519-BCCF-9338D48B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A1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E6145D5-3224-4DCF-8D55-72D3A0BD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12</a:t>
            </a:r>
            <a:endParaRPr sz="2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C0217C-9AB1-45A2-8C2F-0F5611D7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472"/>
            <a:ext cx="6400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Thank you  |  Questions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A3CBE95-B959-4406-9D55-B82CFA3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24128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B39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B18BAF2-7B4A-4F0F-ACEA-271E9A4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84124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7C0BFFC-8940-40B0-ADAE-35CD59A2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8412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5BCF17-9BD9-4B89-BA03-630F58E7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GitHub repository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DEB004-4694-466E-94D8-74EA2171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572768"/>
            <a:ext cx="8193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https://github.com/Nanith-tech/flash-sale-ecommerce-team18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A4F2886-58AC-4C81-97B7-0A7F0C72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48840"/>
            <a:ext cx="84124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4B1D989-FD86-4842-A94C-E1D2086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48840"/>
            <a:ext cx="8412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CBBEB87-7F77-4625-AD4F-BD8C14FA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884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Design and review material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380BD1-648F-4A45-AF66-947CA70A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532888"/>
            <a:ext cx="81930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Included in the repository. No external Google Drive or Figma link was provided.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0D30E84-BBCA-41DC-AE0D-0AABF704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08960"/>
            <a:ext cx="8412480" cy="164592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AC85883-2C53-4CB1-B0B9-32F4A466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08960"/>
            <a:ext cx="84124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15875">
            <a:solidFill>
              <a:srgbClr val="E07B39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73C7F5-FA90-436D-B2F6-8EC8ECD4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7F3A0B"/>
                </a:solidFill>
                <a:latin typeface="Tahoma"/>
                <a:ea typeface="Tahoma"/>
                <a:cs typeface="Tahoma"/>
              </a:rPr>
              <a:t>Team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F8AF91C-1C33-4D8D-AEE6-76E2D4EC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493008"/>
            <a:ext cx="8193024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>
            <a:defPPr>
              <a:defRPr i="0">
                <a:solidFill>
                  <a:srgbClr val="242424"/>
                </a:solidFill>
              </a:defRPr>
            </a:defPPr>
            <a:lvl1pPr>
              <a:defRPr i="0">
                <a:solidFill>
                  <a:srgbClr val="242424"/>
                </a:solidFill>
              </a:defRPr>
            </a:lvl1pPr>
            <a:lvl2pPr>
              <a:defRPr i="0">
                <a:solidFill>
                  <a:srgbClr val="242424"/>
                </a:solidFill>
              </a:defRPr>
            </a:lvl2pPr>
            <a:lvl3pPr>
              <a:defRPr i="0">
                <a:solidFill>
                  <a:srgbClr val="242424"/>
                </a:solidFill>
              </a:defRPr>
            </a:lvl3pPr>
            <a:lvl4pPr>
              <a:defRPr i="0">
                <a:solidFill>
                  <a:srgbClr val="242424"/>
                </a:solidFill>
              </a:defRPr>
            </a:lvl4pPr>
            <a:lvl5pPr>
              <a:defRPr i="0">
                <a:solidFill>
                  <a:srgbClr val="242424"/>
                </a:solidFill>
              </a:defRPr>
            </a:lvl5pPr>
            <a:lvl6pPr>
              <a:defRPr i="0">
                <a:solidFill>
                  <a:srgbClr val="242424"/>
                </a:solidFill>
              </a:defRPr>
            </a:lvl6pPr>
            <a:lvl7pPr>
              <a:defRPr i="0">
                <a:solidFill>
                  <a:srgbClr val="242424"/>
                </a:solidFill>
              </a:defRPr>
            </a:lvl7pPr>
            <a:lvl8pPr>
              <a:defRPr i="0">
                <a:solidFill>
                  <a:srgbClr val="242424"/>
                </a:solidFill>
              </a:defRPr>
            </a:lvl8pPr>
            <a:lvl9pPr>
              <a:defRPr i="0">
                <a:solidFill>
                  <a:srgbClr val="242424"/>
                </a:solidFill>
              </a:defRPr>
            </a:lvl9pPr>
          </a:lstStyle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Team 18</a:t>
            </a:r>
            <a:endParaRPr sz="1200"/>
          </a:p>
          <a:p xmlns:a="http://schemas.openxmlformats.org/drawingml/2006/main">
            <a:pPr marL="0" indent="0">
              <a:buNone/>
              <a:defRPr i="0">
                <a:solidFill>
                  <a:srgbClr val="242424"/>
                </a:solidFill>
              </a:defRPr>
            </a:pPr>
            <a:r>
              <a:rPr sz="1200" i="0">
                <a:solidFill>
                  <a:srgbClr val="242424"/>
                </a:solidFill>
                <a:latin typeface="Tahoma"/>
                <a:ea typeface="Tahoma"/>
                <a:cs typeface="Tahoma"/>
              </a:rPr>
              <a:t>M Nanith Reddy, Sukka Bhuvaneshwar and P William</a:t>
            </a: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04DF887-7AF7-4840-A895-ECCDD766926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412480" y="4928616"/>
            <a:ext cx="457200" cy="21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F3A0B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>
            <a:pPr algn="l">
              <a:buNone/>
            </a:pPr>
            <a:fld id="{2DD23107-4986-8758-3A93-3D74F35908C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54453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2026-10-26T15:30:11.3520000Z</dcterms:created>
  <dcterms:modified xsi:type="dcterms:W3CDTF">2026-10-26T15:30:11.3520000Z</dcterms:modified>
</coreProperties>
</file>